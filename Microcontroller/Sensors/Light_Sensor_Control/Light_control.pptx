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sldIdLst>
    <p:sldId id="256" r:id="rId3"/>
    <p:sldId id="259" r:id="rId4"/>
    <p:sldId id="260" r:id="rId5"/>
    <p:sldId id="261" r:id="rId6"/>
    <p:sldId id="262" r:id="rId7"/>
    <p:sldId id="263" r:id="rId8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BD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5" d="100"/>
          <a:sy n="115" d="100"/>
        </p:scale>
        <p:origin x="684" y="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76BD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1930053" y="976495"/>
            <a:ext cx="5254427" cy="3187898"/>
            <a:chOff x="1259632" y="1556792"/>
            <a:chExt cx="6646450" cy="4032448"/>
          </a:xfrm>
        </p:grpSpPr>
        <p:sp>
          <p:nvSpPr>
            <p:cNvPr id="3" name="Rectangle 4"/>
            <p:cNvSpPr/>
            <p:nvPr userDrawn="1"/>
          </p:nvSpPr>
          <p:spPr>
            <a:xfrm flipH="1">
              <a:off x="6177890" y="3141712"/>
              <a:ext cx="1728192" cy="1296144"/>
            </a:xfrm>
            <a:custGeom>
              <a:avLst/>
              <a:gdLst/>
              <a:ahLst/>
              <a:cxnLst/>
              <a:rect l="l" t="t" r="r" b="b"/>
              <a:pathLst>
                <a:path w="2520280" h="1296144">
                  <a:moveTo>
                    <a:pt x="0" y="0"/>
                  </a:moveTo>
                  <a:lnTo>
                    <a:pt x="2520280" y="0"/>
                  </a:lnTo>
                  <a:lnTo>
                    <a:pt x="2520280" y="1296144"/>
                  </a:lnTo>
                  <a:lnTo>
                    <a:pt x="0" y="1296144"/>
                  </a:lnTo>
                  <a:lnTo>
                    <a:pt x="0" y="1274542"/>
                  </a:lnTo>
                  <a:lnTo>
                    <a:pt x="1080120" y="648073"/>
                  </a:lnTo>
                  <a:lnTo>
                    <a:pt x="0" y="21603"/>
                  </a:lnTo>
                  <a:close/>
                </a:path>
              </a:pathLst>
            </a:custGeom>
            <a:gradFill flip="none" rotWithShape="1">
              <a:gsLst>
                <a:gs pos="42000">
                  <a:schemeClr val="bg1"/>
                </a:gs>
                <a:gs pos="100000">
                  <a:schemeClr val="bg1">
                    <a:lumMod val="9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Rectangle 4"/>
            <p:cNvSpPr/>
            <p:nvPr userDrawn="1"/>
          </p:nvSpPr>
          <p:spPr>
            <a:xfrm>
              <a:off x="1259632" y="3140968"/>
              <a:ext cx="1728192" cy="1296144"/>
            </a:xfrm>
            <a:custGeom>
              <a:avLst/>
              <a:gdLst/>
              <a:ahLst/>
              <a:cxnLst/>
              <a:rect l="l" t="t" r="r" b="b"/>
              <a:pathLst>
                <a:path w="2520280" h="1296144">
                  <a:moveTo>
                    <a:pt x="0" y="0"/>
                  </a:moveTo>
                  <a:lnTo>
                    <a:pt x="2520280" y="0"/>
                  </a:lnTo>
                  <a:lnTo>
                    <a:pt x="2520280" y="1296144"/>
                  </a:lnTo>
                  <a:lnTo>
                    <a:pt x="0" y="1296144"/>
                  </a:lnTo>
                  <a:lnTo>
                    <a:pt x="0" y="1274542"/>
                  </a:lnTo>
                  <a:lnTo>
                    <a:pt x="1080120" y="648073"/>
                  </a:lnTo>
                  <a:lnTo>
                    <a:pt x="0" y="21603"/>
                  </a:lnTo>
                  <a:close/>
                </a:path>
              </a:pathLst>
            </a:custGeom>
            <a:gradFill flip="none" rotWithShape="1">
              <a:gsLst>
                <a:gs pos="42000">
                  <a:schemeClr val="bg1"/>
                </a:gs>
                <a:gs pos="100000">
                  <a:schemeClr val="bg1">
                    <a:lumMod val="9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Freeform 4"/>
            <p:cNvSpPr/>
            <p:nvPr userDrawn="1"/>
          </p:nvSpPr>
          <p:spPr>
            <a:xfrm>
              <a:off x="2194560" y="3317240"/>
              <a:ext cx="1005840" cy="1193800"/>
            </a:xfrm>
            <a:custGeom>
              <a:avLst/>
              <a:gdLst>
                <a:gd name="connsiteX0" fmla="*/ 0 w 1005840"/>
                <a:gd name="connsiteY0" fmla="*/ 975360 h 1193800"/>
                <a:gd name="connsiteX1" fmla="*/ 1000760 w 1005840"/>
                <a:gd name="connsiteY1" fmla="*/ 1193800 h 1193800"/>
                <a:gd name="connsiteX2" fmla="*/ 1005840 w 1005840"/>
                <a:gd name="connsiteY2" fmla="*/ 0 h 1193800"/>
                <a:gd name="connsiteX3" fmla="*/ 157480 w 1005840"/>
                <a:gd name="connsiteY3" fmla="*/ 340360 h 1193800"/>
                <a:gd name="connsiteX4" fmla="*/ 15240 w 1005840"/>
                <a:gd name="connsiteY4" fmla="*/ 457200 h 1193800"/>
                <a:gd name="connsiteX5" fmla="*/ 0 w 1005840"/>
                <a:gd name="connsiteY5" fmla="*/ 975360 h 1193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5840" h="1193800">
                  <a:moveTo>
                    <a:pt x="0" y="975360"/>
                  </a:moveTo>
                  <a:lnTo>
                    <a:pt x="1000760" y="1193800"/>
                  </a:lnTo>
                  <a:cubicBezTo>
                    <a:pt x="1002453" y="795867"/>
                    <a:pt x="1004147" y="397933"/>
                    <a:pt x="1005840" y="0"/>
                  </a:cubicBezTo>
                  <a:lnTo>
                    <a:pt x="157480" y="340360"/>
                  </a:lnTo>
                  <a:lnTo>
                    <a:pt x="15240" y="45720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Freeform 5"/>
            <p:cNvSpPr/>
            <p:nvPr userDrawn="1"/>
          </p:nvSpPr>
          <p:spPr>
            <a:xfrm flipH="1">
              <a:off x="6014432" y="3321382"/>
              <a:ext cx="1005840" cy="1193800"/>
            </a:xfrm>
            <a:custGeom>
              <a:avLst/>
              <a:gdLst>
                <a:gd name="connsiteX0" fmla="*/ 0 w 1005840"/>
                <a:gd name="connsiteY0" fmla="*/ 975360 h 1193800"/>
                <a:gd name="connsiteX1" fmla="*/ 1000760 w 1005840"/>
                <a:gd name="connsiteY1" fmla="*/ 1193800 h 1193800"/>
                <a:gd name="connsiteX2" fmla="*/ 1005840 w 1005840"/>
                <a:gd name="connsiteY2" fmla="*/ 0 h 1193800"/>
                <a:gd name="connsiteX3" fmla="*/ 157480 w 1005840"/>
                <a:gd name="connsiteY3" fmla="*/ 340360 h 1193800"/>
                <a:gd name="connsiteX4" fmla="*/ 15240 w 1005840"/>
                <a:gd name="connsiteY4" fmla="*/ 457200 h 1193800"/>
                <a:gd name="connsiteX5" fmla="*/ 0 w 1005840"/>
                <a:gd name="connsiteY5" fmla="*/ 975360 h 1193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5840" h="1193800">
                  <a:moveTo>
                    <a:pt x="0" y="975360"/>
                  </a:moveTo>
                  <a:lnTo>
                    <a:pt x="1000760" y="1193800"/>
                  </a:lnTo>
                  <a:cubicBezTo>
                    <a:pt x="1002453" y="795867"/>
                    <a:pt x="1004147" y="397933"/>
                    <a:pt x="1005840" y="0"/>
                  </a:cubicBezTo>
                  <a:lnTo>
                    <a:pt x="157480" y="340360"/>
                  </a:lnTo>
                  <a:lnTo>
                    <a:pt x="15240" y="45720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55776" y="1556792"/>
              <a:ext cx="4032448" cy="4032448"/>
            </a:xfrm>
            <a:prstGeom prst="rect">
              <a:avLst/>
            </a:prstGeom>
          </p:spPr>
        </p:pic>
        <p:sp>
          <p:nvSpPr>
            <p:cNvPr id="8" name="Rectangle 7"/>
            <p:cNvSpPr/>
            <p:nvPr userDrawn="1"/>
          </p:nvSpPr>
          <p:spPr>
            <a:xfrm>
              <a:off x="2195736" y="2996952"/>
              <a:ext cx="4824536" cy="12961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8100" sx="101000" sy="101000" algn="ctr" rotWithShape="0">
                <a:prstClr val="black">
                  <a:alpha val="1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7" name="Straight Connector 16"/>
          <p:cNvCxnSpPr/>
          <p:nvPr userDrawn="1"/>
        </p:nvCxnSpPr>
        <p:spPr>
          <a:xfrm flipH="1">
            <a:off x="8100392" y="303498"/>
            <a:ext cx="864096" cy="648072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 userDrawn="1"/>
        </p:nvCxnSpPr>
        <p:spPr>
          <a:xfrm flipH="1">
            <a:off x="8262156" y="0"/>
            <a:ext cx="881844" cy="627534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 userDrawn="1"/>
        </p:nvCxnSpPr>
        <p:spPr>
          <a:xfrm flipH="1">
            <a:off x="-9512" y="4481583"/>
            <a:ext cx="1269144" cy="68549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 userDrawn="1"/>
        </p:nvCxnSpPr>
        <p:spPr>
          <a:xfrm flipH="1">
            <a:off x="215504" y="4241626"/>
            <a:ext cx="1116136" cy="63438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9768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76BD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9144000" cy="889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4000" cy="884466"/>
          </a:xfrm>
          <a:prstGeom prst="rect">
            <a:avLst/>
          </a:prstGeom>
        </p:spPr>
        <p:txBody>
          <a:bodyPr anchor="ctr"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 smtClean="0"/>
              <a:t> Click to edit title</a:t>
            </a:r>
            <a:endParaRPr lang="ko-KR" alt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95536" y="1131590"/>
            <a:ext cx="8496944" cy="4606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 smtClean="0"/>
              <a:t>Click to edit Master text styles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405880" y="1808261"/>
            <a:ext cx="8496944" cy="2995737"/>
          </a:xfrm>
          <a:prstGeom prst="rect">
            <a:avLst/>
          </a:prstGeom>
        </p:spPr>
        <p:txBody>
          <a:bodyPr lIns="396000" anchor="t"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 smtClean="0"/>
              <a:t>Click to edit Master text styles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-4259" y="4731990"/>
            <a:ext cx="9144000" cy="42423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Straight Connector 7"/>
          <p:cNvCxnSpPr/>
          <p:nvPr userDrawn="1"/>
        </p:nvCxnSpPr>
        <p:spPr>
          <a:xfrm flipH="1">
            <a:off x="0" y="4188230"/>
            <a:ext cx="631613" cy="54376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 flipH="1">
            <a:off x="240634" y="4098068"/>
            <a:ext cx="756706" cy="644808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 flipH="1">
            <a:off x="8606137" y="10584"/>
            <a:ext cx="537863" cy="466232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 userDrawn="1"/>
        </p:nvCxnSpPr>
        <p:spPr>
          <a:xfrm flipH="1">
            <a:off x="8888080" y="188640"/>
            <a:ext cx="255920" cy="212384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6943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63688" y="0"/>
            <a:ext cx="7380312" cy="884466"/>
          </a:xfrm>
          <a:prstGeom prst="rect">
            <a:avLst/>
          </a:prstGeom>
        </p:spPr>
        <p:txBody>
          <a:bodyPr anchor="ctr"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 smtClean="0"/>
              <a:t> Click to edit title</a:t>
            </a:r>
            <a:endParaRPr lang="ko-KR" alt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2112022" y="987574"/>
            <a:ext cx="6780457" cy="4606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 smtClean="0"/>
              <a:t>Click to edit Master text styles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2122366" y="1664245"/>
            <a:ext cx="6780457" cy="2995737"/>
          </a:xfrm>
          <a:prstGeom prst="rect">
            <a:avLst/>
          </a:prstGeom>
        </p:spPr>
        <p:txBody>
          <a:bodyPr lIns="396000" anchor="t"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 smtClean="0"/>
              <a:t>Click to edit Master text styles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-3312" y="0"/>
            <a:ext cx="1619672" cy="5143500"/>
          </a:xfrm>
          <a:prstGeom prst="rect">
            <a:avLst/>
          </a:prstGeom>
          <a:solidFill>
            <a:srgbClr val="76BD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86403" y="3767000"/>
            <a:ext cx="1421192" cy="1187860"/>
            <a:chOff x="2195736" y="1556792"/>
            <a:chExt cx="4824536" cy="4032448"/>
          </a:xfrm>
        </p:grpSpPr>
        <p:pic>
          <p:nvPicPr>
            <p:cNvPr id="8" name="Picture 7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55776" y="1556792"/>
              <a:ext cx="4032448" cy="4032448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 userDrawn="1"/>
          </p:nvSpPr>
          <p:spPr>
            <a:xfrm>
              <a:off x="2195736" y="2807197"/>
              <a:ext cx="4824536" cy="16756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8100" sx="101000" sy="101000" algn="ctr" rotWithShape="0">
                <a:prstClr val="black">
                  <a:alpha val="1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0" name="Straight Connector 9"/>
          <p:cNvCxnSpPr/>
          <p:nvPr userDrawn="1"/>
        </p:nvCxnSpPr>
        <p:spPr>
          <a:xfrm flipH="1">
            <a:off x="8606137" y="0"/>
            <a:ext cx="537863" cy="476816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 userDrawn="1"/>
        </p:nvCxnSpPr>
        <p:spPr>
          <a:xfrm flipH="1">
            <a:off x="8817764" y="190604"/>
            <a:ext cx="326236" cy="286212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07950" y="4156075"/>
            <a:ext cx="1368425" cy="431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 smtClean="0"/>
              <a:t>Edit.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2808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7D59-5EDB-4C39-B697-625748F703B6}" type="datetimeFigureOut">
              <a:rPr lang="en-US" smtClean="0"/>
              <a:t>27-Jan-17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959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7D59-5EDB-4C39-B697-625748F703B6}" type="datetimeFigureOut">
              <a:rPr lang="en-US" smtClean="0"/>
              <a:t>27-Jan-17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133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79638"/>
            <a:ext cx="7772400" cy="112553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7D59-5EDB-4C39-B697-625748F703B6}" type="datetimeFigureOut">
              <a:rPr lang="en-US" smtClean="0"/>
              <a:t>27-Jan-17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431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7D59-5EDB-4C39-B697-625748F703B6}" type="datetimeFigureOut">
              <a:rPr lang="en-US" smtClean="0"/>
              <a:t>27-Jan-17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802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7D59-5EDB-4C39-B697-625748F703B6}" type="datetimeFigureOut">
              <a:rPr lang="en-US" smtClean="0"/>
              <a:t>27-Jan-17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794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7D59-5EDB-4C39-B697-625748F703B6}" type="datetimeFigureOut">
              <a:rPr lang="en-US" smtClean="0"/>
              <a:t>27-Jan-17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510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7D59-5EDB-4C39-B697-625748F703B6}" type="datetimeFigureOut">
              <a:rPr lang="en-US" smtClean="0"/>
              <a:t>27-Jan-17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535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79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7D59-5EDB-4C39-B697-625748F703B6}" type="datetimeFigureOut">
              <a:rPr lang="en-US" smtClean="0"/>
              <a:t>27-Jan-17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824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7D59-5EDB-4C39-B697-625748F703B6}" type="datetimeFigureOut">
              <a:rPr lang="en-US" smtClean="0"/>
              <a:t>27-Jan-17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4409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7D59-5EDB-4C39-B697-625748F703B6}" type="datetimeFigureOut">
              <a:rPr lang="en-US" smtClean="0"/>
              <a:t>27-Jan-17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8716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7D59-5EDB-4C39-B697-625748F703B6}" type="datetimeFigureOut">
              <a:rPr lang="en-US" smtClean="0"/>
              <a:t>27-Jan-17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091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2391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</p:sldLayoutIdLst>
  <p:txStyles>
    <p:titleStyle>
      <a:lvl1pPr algn="ctr" defTabSz="914400" rtl="0" eaLnBrk="1" latinLnBrk="1" hangingPunct="1">
        <a:spcBef>
          <a:spcPct val="0"/>
        </a:spcBef>
        <a:buNone/>
        <a:defRPr sz="3600" b="1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937D59-5EDB-4C39-B697-625748F703B6}" type="datetimeFigureOut">
              <a:rPr lang="en-US" smtClean="0"/>
              <a:t>27-Jan-17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239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www.free-powerpoint-templates-design.com/free-powerpoint-templates-design" TargetMode="Externa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tkkrlab.nl/wiki/Arduino_KY-018_Photo_resistor_module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tkkrlab.nl/wiki/Arduino_KY-019_5V_relay_module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203388" y="4342333"/>
            <a:ext cx="47880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Smart Home</a:t>
            </a:r>
            <a:br>
              <a:rPr kumimoji="0"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</a:br>
            <a:r>
              <a:rPr kumimoji="0"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Project</a:t>
            </a:r>
            <a:endParaRPr kumimoji="0"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1"/>
          <p:cNvSpPr txBox="1">
            <a:spLocks noChangeArrowheads="1"/>
          </p:cNvSpPr>
          <p:nvPr/>
        </p:nvSpPr>
        <p:spPr bwMode="auto">
          <a:xfrm>
            <a:off x="2680742" y="2139702"/>
            <a:ext cx="3795216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Light Control</a:t>
            </a:r>
            <a:endParaRPr lang="en-US" altLang="ko-KR" sz="2800" b="1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  <a:p>
            <a:pPr algn="ctr"/>
            <a:r>
              <a:rPr lang="en-US" altLang="ko-KR" sz="2800" b="1" dirty="0" smtClean="0">
                <a:solidFill>
                  <a:srgbClr val="FF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Photoresistor</a:t>
            </a:r>
            <a:endParaRPr lang="en-US" altLang="ko-KR" sz="2800" b="1" dirty="0" smtClean="0">
              <a:solidFill>
                <a:srgbClr val="FF0000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0" name="TextBox 9">
            <a:hlinkClick r:id="rId2"/>
          </p:cNvPr>
          <p:cNvSpPr txBox="1"/>
          <p:nvPr/>
        </p:nvSpPr>
        <p:spPr>
          <a:xfrm>
            <a:off x="0" y="4834195"/>
            <a:ext cx="9144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GitHub link.com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1244" y="387218"/>
            <a:ext cx="1301512" cy="321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47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Sensor: </a:t>
            </a:r>
            <a:r>
              <a:rPr lang="en-US" dirty="0" smtClean="0"/>
              <a:t>KY-018</a:t>
            </a:r>
            <a:endParaRPr lang="ko-KR" alt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84" y="1331510"/>
            <a:ext cx="4444804" cy="2995613"/>
          </a:xfrm>
        </p:spPr>
      </p:pic>
      <p:sp>
        <p:nvSpPr>
          <p:cNvPr id="4" name="TextBox 3"/>
          <p:cNvSpPr txBox="1"/>
          <p:nvPr/>
        </p:nvSpPr>
        <p:spPr>
          <a:xfrm>
            <a:off x="107504" y="4155926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Photoresistor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8" name="Content Placeholder 4"/>
          <p:cNvSpPr>
            <a:spLocks noGrp="1"/>
          </p:cNvSpPr>
          <p:nvPr>
            <p:ph idx="10"/>
          </p:nvPr>
        </p:nvSpPr>
        <p:spPr>
          <a:xfrm>
            <a:off x="1454273" y="1622352"/>
            <a:ext cx="2520279" cy="2304256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Arial" pitchFamily="34" charset="0"/>
                <a:cs typeface="Arial" pitchFamily="34" charset="0"/>
              </a:rPr>
              <a:t>Output range from 0-5V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Arial" pitchFamily="34" charset="0"/>
                <a:cs typeface="Arial" pitchFamily="34" charset="0"/>
              </a:rPr>
              <a:t>0V indicates very </a:t>
            </a:r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intense </a:t>
            </a:r>
            <a:r>
              <a:rPr lang="en-US" altLang="ko-KR" sz="1600" dirty="0">
                <a:latin typeface="Arial" pitchFamily="34" charset="0"/>
                <a:cs typeface="Arial" pitchFamily="34" charset="0"/>
              </a:rPr>
              <a:t>light.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Arial" pitchFamily="34" charset="0"/>
                <a:cs typeface="Arial" pitchFamily="34" charset="0"/>
              </a:rPr>
              <a:t>5V indicates complete </a:t>
            </a:r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darkness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Absolute 0V &amp; 5V are highly unlikely to be outputted.</a:t>
            </a:r>
            <a:endParaRPr lang="en-US" altLang="ko-KR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68208" y="4774168"/>
            <a:ext cx="7665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en-US" dirty="0" smtClean="0">
                <a:solidFill>
                  <a:srgbClr val="FF0000"/>
                </a:solidFill>
                <a:latin typeface="Euphemia"/>
              </a:rPr>
              <a:t>Datasheet: </a:t>
            </a:r>
            <a:r>
              <a:rPr lang="en-US" dirty="0">
                <a:solidFill>
                  <a:srgbClr val="465562"/>
                </a:solidFill>
                <a:latin typeface="Euphemia"/>
                <a:hlinkClick r:id="rId3"/>
              </a:rPr>
              <a:t>https://tkkrlab.nl/wiki/Arduino_KY-018_Photo_resistor_module</a:t>
            </a:r>
            <a:endParaRPr lang="en-US" dirty="0">
              <a:solidFill>
                <a:srgbClr val="465562"/>
              </a:solidFill>
              <a:latin typeface="Euphemia"/>
            </a:endParaRPr>
          </a:p>
        </p:txBody>
      </p:sp>
    </p:spTree>
    <p:extLst>
      <p:ext uri="{BB962C8B-B14F-4D97-AF65-F5344CB8AC3E}">
        <p14:creationId xmlns:p14="http://schemas.microsoft.com/office/powerpoint/2010/main" val="979107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The Relay: KY-019 </a:t>
            </a:r>
            <a:endParaRPr lang="ko-KR" alt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207" y="868258"/>
            <a:ext cx="7492793" cy="3670781"/>
          </a:xfrm>
        </p:spPr>
      </p:pic>
      <p:sp>
        <p:nvSpPr>
          <p:cNvPr id="6" name="TextBox 5"/>
          <p:cNvSpPr txBox="1"/>
          <p:nvPr/>
        </p:nvSpPr>
        <p:spPr>
          <a:xfrm>
            <a:off x="107504" y="4155926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Photoresistor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53363" y="4774168"/>
            <a:ext cx="7088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en-US" dirty="0" smtClean="0">
                <a:solidFill>
                  <a:srgbClr val="FF0000"/>
                </a:solidFill>
                <a:latin typeface="Euphemia"/>
              </a:rPr>
              <a:t>Datasheet: </a:t>
            </a:r>
            <a:r>
              <a:rPr lang="en-US" dirty="0">
                <a:solidFill>
                  <a:srgbClr val="465562"/>
                </a:solidFill>
                <a:latin typeface="Euphemia"/>
                <a:hlinkClick r:id="rId3"/>
              </a:rPr>
              <a:t>https://tkkrlab.nl/wiki/Arduino_KY-019_5V_relay_module</a:t>
            </a:r>
            <a:endParaRPr lang="en-US" dirty="0">
              <a:solidFill>
                <a:srgbClr val="465562"/>
              </a:solidFill>
              <a:latin typeface="Euphemia"/>
            </a:endParaRPr>
          </a:p>
        </p:txBody>
      </p:sp>
    </p:spTree>
    <p:extLst>
      <p:ext uri="{BB962C8B-B14F-4D97-AF65-F5344CB8AC3E}">
        <p14:creationId xmlns:p14="http://schemas.microsoft.com/office/powerpoint/2010/main" val="3946975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Layout of The Design</a:t>
            </a:r>
            <a:endParaRPr lang="ko-KR" alt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3844" y="846951"/>
            <a:ext cx="3024336" cy="4290819"/>
          </a:xfrm>
        </p:spPr>
      </p:pic>
      <p:sp>
        <p:nvSpPr>
          <p:cNvPr id="6" name="TextBox 5"/>
          <p:cNvSpPr txBox="1"/>
          <p:nvPr/>
        </p:nvSpPr>
        <p:spPr>
          <a:xfrm>
            <a:off x="107504" y="4155926"/>
            <a:ext cx="136815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Photoresistor</a:t>
            </a:r>
          </a:p>
          <a:p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8" name="Content Placeholder 4"/>
          <p:cNvSpPr>
            <a:spLocks noGrp="1"/>
          </p:cNvSpPr>
          <p:nvPr>
            <p:ph idx="10"/>
          </p:nvPr>
        </p:nvSpPr>
        <p:spPr>
          <a:xfrm>
            <a:off x="1619672" y="1059582"/>
            <a:ext cx="3672408" cy="407818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In the actual implementation we added a Capacitor of </a:t>
            </a:r>
            <a:r>
              <a:rPr lang="en-US" altLang="ko-KR" sz="16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220uF</a:t>
            </a:r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 (or lower) to </a:t>
            </a:r>
            <a:r>
              <a:rPr lang="en-US" altLang="ko-KR" sz="1600" dirty="0">
                <a:latin typeface="Arial" pitchFamily="34" charset="0"/>
                <a:cs typeface="Arial" pitchFamily="34" charset="0"/>
              </a:rPr>
              <a:t>remove </a:t>
            </a:r>
            <a:r>
              <a:rPr lang="en-US" altLang="ko-KR" sz="16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oscillation</a:t>
            </a:r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We also used a transistor to power up the relay.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The relay consumes a lot of power (relative to what microcontrollers)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So the </a:t>
            </a:r>
            <a:r>
              <a:rPr lang="en-US" altLang="ko-KR" sz="1600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signal pin</a:t>
            </a:r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 is connected to one an external power source via transistor.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The transistor is enabled through the microcontroller </a:t>
            </a:r>
            <a:r>
              <a:rPr lang="en-US" altLang="ko-KR" sz="1600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control pin </a:t>
            </a:r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which we define in the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8811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63688" y="-26452"/>
            <a:ext cx="7380312" cy="910918"/>
          </a:xfrm>
        </p:spPr>
        <p:txBody>
          <a:bodyPr/>
          <a:lstStyle/>
          <a:p>
            <a:r>
              <a:rPr lang="en-US" altLang="ko-KR" dirty="0" smtClean="0"/>
              <a:t>The Code:</a:t>
            </a:r>
            <a:endParaRPr lang="ko-KR" alt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0"/>
          </p:nvPr>
        </p:nvSpPr>
        <p:spPr>
          <a:xfrm>
            <a:off x="1729368" y="884466"/>
            <a:ext cx="7260513" cy="4259034"/>
          </a:xfrm>
        </p:spPr>
        <p:txBody>
          <a:bodyPr/>
          <a:lstStyle/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12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float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photo_resistor_voltage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;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//to store the voltage from the </a:t>
            </a:r>
            <a:r>
              <a:rPr lang="en-US" sz="1200" dirty="0" err="1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photoresistor</a:t>
            </a:r>
            <a:endParaRPr lang="en-US" sz="16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byte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photo_resistor_pin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=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A0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;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//the pin the </a:t>
            </a:r>
            <a:r>
              <a:rPr lang="en-US" sz="1200" dirty="0" err="1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photoresistor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reads from</a:t>
            </a:r>
            <a:endParaRPr lang="en-US" sz="16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byte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relay_pin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=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2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8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;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         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//the control pin for the relay</a:t>
            </a:r>
            <a:endParaRPr lang="en-US" sz="16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en-US" sz="16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12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setup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()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{</a:t>
            </a:r>
            <a:endParaRPr lang="en-US" sz="16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}</a:t>
            </a:r>
            <a:endParaRPr lang="en-US" sz="16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en-US" sz="16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12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loop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()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{</a:t>
            </a:r>
            <a:endParaRPr lang="en-US" sz="16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photo_resistor_voltage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=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analogRead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photo_resistor_pin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);</a:t>
            </a:r>
            <a:endParaRPr lang="en-US" sz="16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photo_resistor_voltage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=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photo_resistor_voltage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*(</a:t>
            </a:r>
            <a:r>
              <a:rPr lang="en-US" sz="12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5.0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/</a:t>
            </a:r>
            <a:r>
              <a:rPr lang="en-US" sz="12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1023.0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);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//convert to range 0-5V</a:t>
            </a:r>
            <a:endParaRPr lang="en-US" sz="16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n-US" sz="16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if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photo_resistor_voltage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&gt;=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2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2.6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){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// it's almost dark</a:t>
            </a:r>
            <a:endParaRPr lang="en-US" sz="16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digitalWrite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relay_pin</a:t>
            </a:r>
            <a:r>
              <a:rPr lang="en-US" sz="12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,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LOW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);</a:t>
            </a:r>
            <a:endParaRPr lang="en-US" sz="16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}</a:t>
            </a:r>
            <a:endParaRPr lang="en-US" sz="16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else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if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photo_resistor_voltage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&lt;=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2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2.4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){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// some light detected</a:t>
            </a:r>
            <a:endParaRPr lang="en-US" sz="16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digitalWrite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relay_pin</a:t>
            </a:r>
            <a:r>
              <a:rPr lang="en-US" sz="12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,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HIGH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);</a:t>
            </a:r>
            <a:endParaRPr lang="en-US" sz="16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}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// the threshold at which the light is turned on or off is chosen to satisfy the user's preferences</a:t>
            </a:r>
            <a:endParaRPr lang="en-US" sz="16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}</a:t>
            </a:r>
            <a:endParaRPr lang="en-US" sz="16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504" y="4155926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Photoresistor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412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It Works</a:t>
            </a:r>
            <a:endParaRPr lang="ko-KR" alt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0"/>
          </p:nvPr>
        </p:nvSpPr>
        <p:spPr>
          <a:xfrm>
            <a:off x="2122366" y="987574"/>
            <a:ext cx="6780457" cy="4155925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smtClean="0">
                <a:latin typeface="Arial" pitchFamily="34" charset="0"/>
                <a:cs typeface="Arial" pitchFamily="34" charset="0"/>
              </a:rPr>
              <a:t>The Photoresistor output </a:t>
            </a:r>
            <a:r>
              <a:rPr lang="en-US" altLang="ko-KR" dirty="0" smtClean="0">
                <a:latin typeface="Arial" pitchFamily="34" charset="0"/>
                <a:cs typeface="Arial" pitchFamily="34" charset="0"/>
              </a:rPr>
              <a:t>is connected to an analog in the microcontroller.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smtClean="0">
                <a:latin typeface="Arial" pitchFamily="34" charset="0"/>
                <a:cs typeface="Arial" pitchFamily="34" charset="0"/>
              </a:rPr>
              <a:t>The Photoresistor is placed outside the house and facing the sky.</a:t>
            </a:r>
            <a:endParaRPr lang="en-US" altLang="ko-KR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smtClean="0">
                <a:latin typeface="Arial" pitchFamily="34" charset="0"/>
                <a:cs typeface="Arial" pitchFamily="34" charset="0"/>
              </a:rPr>
              <a:t>If the microcontroller reads H</a:t>
            </a:r>
            <a:r>
              <a:rPr lang="en-US" altLang="ko-KR" dirty="0" smtClean="0">
                <a:latin typeface="Arial" pitchFamily="34" charset="0"/>
                <a:cs typeface="Arial" pitchFamily="34" charset="0"/>
              </a:rPr>
              <a:t>igh </a:t>
            </a:r>
            <a:r>
              <a:rPr lang="en-US" altLang="ko-KR" dirty="0">
                <a:latin typeface="Arial" pitchFamily="34" charset="0"/>
                <a:cs typeface="Arial" pitchFamily="34" charset="0"/>
              </a:rPr>
              <a:t>voltage (low light ) </a:t>
            </a:r>
            <a:r>
              <a:rPr lang="en-US" altLang="ko-KR" dirty="0" smtClean="0">
                <a:latin typeface="Arial" pitchFamily="34" charset="0"/>
                <a:cs typeface="Arial" pitchFamily="34" charset="0"/>
              </a:rPr>
              <a:t>then environment is dark (night has fallen), then the light is automatically turned 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Arial" pitchFamily="34" charset="0"/>
                <a:cs typeface="Arial" pitchFamily="34" charset="0"/>
              </a:rPr>
              <a:t>The opposite is true, if the microcontroller reads Low voltage (light presence) then environment is lit (the sun is rising), then the light is automatically turned off.</a:t>
            </a:r>
            <a:endParaRPr lang="en-US" altLang="ko-KR" dirty="0" smtClean="0">
              <a:latin typeface="Arial" pitchFamily="34" charset="0"/>
              <a:cs typeface="Arial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US" altLang="ko-KR" dirty="0">
                <a:latin typeface="Arial" pitchFamily="34" charset="0"/>
                <a:cs typeface="Arial" pitchFamily="34" charset="0"/>
              </a:rPr>
              <a:t>threshold at which the light is turned on or off is chosen to satisfy the user's </a:t>
            </a:r>
            <a:r>
              <a:rPr lang="en-US" altLang="ko-KR" dirty="0" smtClean="0">
                <a:latin typeface="Arial" pitchFamily="34" charset="0"/>
                <a:cs typeface="Arial" pitchFamily="34" charset="0"/>
              </a:rPr>
              <a:t>preferences.</a:t>
            </a:r>
            <a:endParaRPr lang="en-US" altLang="ko-KR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Arial" pitchFamily="34" charset="0"/>
                <a:cs typeface="Arial" pitchFamily="34" charset="0"/>
              </a:rPr>
              <a:t>The sensor indicates whether it’s day or night, this can be used to drive other smart </a:t>
            </a:r>
            <a:r>
              <a:rPr lang="en-US" altLang="ko-KR" dirty="0" smtClean="0">
                <a:latin typeface="Arial" pitchFamily="34" charset="0"/>
                <a:cs typeface="Arial" pitchFamily="34" charset="0"/>
              </a:rPr>
              <a:t>features.</a:t>
            </a:r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504" y="4155926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Photoresistor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1833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2413</TotalTime>
  <Words>295</Words>
  <Application>Microsoft Office PowerPoint</Application>
  <PresentationFormat>On-screen Show (16:9)</PresentationFormat>
  <Paragraphs>49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맑은 고딕</vt:lpstr>
      <vt:lpstr>Arial</vt:lpstr>
      <vt:lpstr>Calibri</vt:lpstr>
      <vt:lpstr>Courier New</vt:lpstr>
      <vt:lpstr>Euphemia</vt:lpstr>
      <vt:lpstr>Times New Roman</vt:lpstr>
      <vt:lpstr>Office Theme</vt:lpstr>
      <vt:lpstr>Custom Design</vt:lpstr>
      <vt:lpstr>PowerPoint Presentation</vt:lpstr>
      <vt:lpstr>The Sensor: KY-018</vt:lpstr>
      <vt:lpstr>The Relay: KY-019 </vt:lpstr>
      <vt:lpstr>The Layout of The Design</vt:lpstr>
      <vt:lpstr>The Code:</vt:lpstr>
      <vt:lpstr>How It Works</vt:lpstr>
    </vt:vector>
  </TitlesOfParts>
  <Company>Microsoft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Registered User</dc:creator>
  <cp:lastModifiedBy>anas khedr</cp:lastModifiedBy>
  <cp:revision>43</cp:revision>
  <dcterms:created xsi:type="dcterms:W3CDTF">2014-04-01T16:27:38Z</dcterms:created>
  <dcterms:modified xsi:type="dcterms:W3CDTF">2017-01-27T21:20:02Z</dcterms:modified>
</cp:coreProperties>
</file>