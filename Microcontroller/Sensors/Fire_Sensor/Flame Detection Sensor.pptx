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56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B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34" autoAdjust="0"/>
    <p:restoredTop sz="94660"/>
  </p:normalViewPr>
  <p:slideViewPr>
    <p:cSldViewPr>
      <p:cViewPr varScale="1">
        <p:scale>
          <a:sx n="115" d="100"/>
          <a:sy n="115" d="100"/>
        </p:scale>
        <p:origin x="516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76BD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930053" y="976495"/>
            <a:ext cx="5254427" cy="3187898"/>
            <a:chOff x="1259632" y="1556792"/>
            <a:chExt cx="6646450" cy="4032448"/>
          </a:xfrm>
        </p:grpSpPr>
        <p:sp>
          <p:nvSpPr>
            <p:cNvPr id="3" name="Rectangle 4"/>
            <p:cNvSpPr/>
            <p:nvPr userDrawn="1"/>
          </p:nvSpPr>
          <p:spPr>
            <a:xfrm flipH="1">
              <a:off x="6177890" y="3141712"/>
              <a:ext cx="1728192" cy="1296144"/>
            </a:xfrm>
            <a:custGeom>
              <a:avLst/>
              <a:gdLst/>
              <a:ahLst/>
              <a:cxnLst/>
              <a:rect l="l" t="t" r="r" b="b"/>
              <a:pathLst>
                <a:path w="2520280" h="1296144">
                  <a:moveTo>
                    <a:pt x="0" y="0"/>
                  </a:moveTo>
                  <a:lnTo>
                    <a:pt x="2520280" y="0"/>
                  </a:lnTo>
                  <a:lnTo>
                    <a:pt x="2520280" y="1296144"/>
                  </a:lnTo>
                  <a:lnTo>
                    <a:pt x="0" y="1296144"/>
                  </a:lnTo>
                  <a:lnTo>
                    <a:pt x="0" y="1274542"/>
                  </a:lnTo>
                  <a:lnTo>
                    <a:pt x="1080120" y="648073"/>
                  </a:lnTo>
                  <a:lnTo>
                    <a:pt x="0" y="21603"/>
                  </a:lnTo>
                  <a:close/>
                </a:path>
              </a:pathLst>
            </a:custGeom>
            <a:gradFill flip="none" rotWithShape="1">
              <a:gsLst>
                <a:gs pos="42000">
                  <a:schemeClr val="bg1"/>
                </a:gs>
                <a:gs pos="100000">
                  <a:schemeClr val="bg1">
                    <a:lumMod val="9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Rectangle 4"/>
            <p:cNvSpPr/>
            <p:nvPr userDrawn="1"/>
          </p:nvSpPr>
          <p:spPr>
            <a:xfrm>
              <a:off x="1259632" y="3140968"/>
              <a:ext cx="1728192" cy="1296144"/>
            </a:xfrm>
            <a:custGeom>
              <a:avLst/>
              <a:gdLst/>
              <a:ahLst/>
              <a:cxnLst/>
              <a:rect l="l" t="t" r="r" b="b"/>
              <a:pathLst>
                <a:path w="2520280" h="1296144">
                  <a:moveTo>
                    <a:pt x="0" y="0"/>
                  </a:moveTo>
                  <a:lnTo>
                    <a:pt x="2520280" y="0"/>
                  </a:lnTo>
                  <a:lnTo>
                    <a:pt x="2520280" y="1296144"/>
                  </a:lnTo>
                  <a:lnTo>
                    <a:pt x="0" y="1296144"/>
                  </a:lnTo>
                  <a:lnTo>
                    <a:pt x="0" y="1274542"/>
                  </a:lnTo>
                  <a:lnTo>
                    <a:pt x="1080120" y="648073"/>
                  </a:lnTo>
                  <a:lnTo>
                    <a:pt x="0" y="21603"/>
                  </a:lnTo>
                  <a:close/>
                </a:path>
              </a:pathLst>
            </a:custGeom>
            <a:gradFill flip="none" rotWithShape="1">
              <a:gsLst>
                <a:gs pos="42000">
                  <a:schemeClr val="bg1"/>
                </a:gs>
                <a:gs pos="100000">
                  <a:schemeClr val="bg1">
                    <a:lumMod val="9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Freeform 4"/>
            <p:cNvSpPr/>
            <p:nvPr userDrawn="1"/>
          </p:nvSpPr>
          <p:spPr>
            <a:xfrm>
              <a:off x="2194560" y="3317240"/>
              <a:ext cx="1005840" cy="1193800"/>
            </a:xfrm>
            <a:custGeom>
              <a:avLst/>
              <a:gdLst>
                <a:gd name="connsiteX0" fmla="*/ 0 w 1005840"/>
                <a:gd name="connsiteY0" fmla="*/ 975360 h 1193800"/>
                <a:gd name="connsiteX1" fmla="*/ 1000760 w 1005840"/>
                <a:gd name="connsiteY1" fmla="*/ 1193800 h 1193800"/>
                <a:gd name="connsiteX2" fmla="*/ 1005840 w 1005840"/>
                <a:gd name="connsiteY2" fmla="*/ 0 h 1193800"/>
                <a:gd name="connsiteX3" fmla="*/ 157480 w 1005840"/>
                <a:gd name="connsiteY3" fmla="*/ 340360 h 1193800"/>
                <a:gd name="connsiteX4" fmla="*/ 15240 w 1005840"/>
                <a:gd name="connsiteY4" fmla="*/ 457200 h 1193800"/>
                <a:gd name="connsiteX5" fmla="*/ 0 w 1005840"/>
                <a:gd name="connsiteY5" fmla="*/ 975360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5840" h="1193800">
                  <a:moveTo>
                    <a:pt x="0" y="975360"/>
                  </a:moveTo>
                  <a:lnTo>
                    <a:pt x="1000760" y="1193800"/>
                  </a:lnTo>
                  <a:cubicBezTo>
                    <a:pt x="1002453" y="795867"/>
                    <a:pt x="1004147" y="397933"/>
                    <a:pt x="1005840" y="0"/>
                  </a:cubicBezTo>
                  <a:lnTo>
                    <a:pt x="157480" y="340360"/>
                  </a:lnTo>
                  <a:lnTo>
                    <a:pt x="15240" y="45720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5"/>
            <p:cNvSpPr/>
            <p:nvPr userDrawn="1"/>
          </p:nvSpPr>
          <p:spPr>
            <a:xfrm flipH="1">
              <a:off x="6014432" y="3321382"/>
              <a:ext cx="1005840" cy="1193800"/>
            </a:xfrm>
            <a:custGeom>
              <a:avLst/>
              <a:gdLst>
                <a:gd name="connsiteX0" fmla="*/ 0 w 1005840"/>
                <a:gd name="connsiteY0" fmla="*/ 975360 h 1193800"/>
                <a:gd name="connsiteX1" fmla="*/ 1000760 w 1005840"/>
                <a:gd name="connsiteY1" fmla="*/ 1193800 h 1193800"/>
                <a:gd name="connsiteX2" fmla="*/ 1005840 w 1005840"/>
                <a:gd name="connsiteY2" fmla="*/ 0 h 1193800"/>
                <a:gd name="connsiteX3" fmla="*/ 157480 w 1005840"/>
                <a:gd name="connsiteY3" fmla="*/ 340360 h 1193800"/>
                <a:gd name="connsiteX4" fmla="*/ 15240 w 1005840"/>
                <a:gd name="connsiteY4" fmla="*/ 457200 h 1193800"/>
                <a:gd name="connsiteX5" fmla="*/ 0 w 1005840"/>
                <a:gd name="connsiteY5" fmla="*/ 975360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5840" h="1193800">
                  <a:moveTo>
                    <a:pt x="0" y="975360"/>
                  </a:moveTo>
                  <a:lnTo>
                    <a:pt x="1000760" y="1193800"/>
                  </a:lnTo>
                  <a:cubicBezTo>
                    <a:pt x="1002453" y="795867"/>
                    <a:pt x="1004147" y="397933"/>
                    <a:pt x="1005840" y="0"/>
                  </a:cubicBezTo>
                  <a:lnTo>
                    <a:pt x="157480" y="340360"/>
                  </a:lnTo>
                  <a:lnTo>
                    <a:pt x="15240" y="45720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5776" y="1556792"/>
              <a:ext cx="4032448" cy="4032448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 userDrawn="1"/>
          </p:nvSpPr>
          <p:spPr>
            <a:xfrm>
              <a:off x="2195736" y="2996952"/>
              <a:ext cx="4824536" cy="1296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8100" sx="101000" sy="101000" algn="ctr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" name="Straight Connector 16"/>
          <p:cNvCxnSpPr/>
          <p:nvPr userDrawn="1"/>
        </p:nvCxnSpPr>
        <p:spPr>
          <a:xfrm flipH="1">
            <a:off x="8100392" y="303498"/>
            <a:ext cx="864096" cy="648072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 flipH="1">
            <a:off x="8262156" y="0"/>
            <a:ext cx="881844" cy="627534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 flipH="1">
            <a:off x="-9512" y="4481583"/>
            <a:ext cx="1269144" cy="68549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flipH="1">
            <a:off x="215504" y="4241626"/>
            <a:ext cx="1116136" cy="63438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76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76BD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88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 smtClean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95536" y="1131590"/>
            <a:ext cx="8496944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405880" y="1808261"/>
            <a:ext cx="8496944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4259" y="4731990"/>
            <a:ext cx="9144000" cy="4242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0" y="4188230"/>
            <a:ext cx="631613" cy="54376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 flipH="1">
            <a:off x="240634" y="4098068"/>
            <a:ext cx="756706" cy="644808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8606137" y="10584"/>
            <a:ext cx="537863" cy="466232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 flipH="1">
            <a:off x="8888080" y="188640"/>
            <a:ext cx="255920" cy="212384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63688" y="0"/>
            <a:ext cx="7380312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 smtClean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12022" y="987574"/>
            <a:ext cx="6780457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22366" y="1664245"/>
            <a:ext cx="6780457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-3312" y="0"/>
            <a:ext cx="1619672" cy="5143500"/>
          </a:xfrm>
          <a:prstGeom prst="rect">
            <a:avLst/>
          </a:prstGeom>
          <a:solidFill>
            <a:srgbClr val="76BD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86403" y="3767000"/>
            <a:ext cx="1421192" cy="1187860"/>
            <a:chOff x="2195736" y="1556792"/>
            <a:chExt cx="4824536" cy="4032448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5776" y="1556792"/>
              <a:ext cx="4032448" cy="4032448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 userDrawn="1"/>
          </p:nvSpPr>
          <p:spPr>
            <a:xfrm>
              <a:off x="2195736" y="2807197"/>
              <a:ext cx="4824536" cy="16756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8100" sx="101000" sy="101000" algn="ctr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" name="Straight Connector 9"/>
          <p:cNvCxnSpPr/>
          <p:nvPr userDrawn="1"/>
        </p:nvCxnSpPr>
        <p:spPr>
          <a:xfrm flipH="1">
            <a:off x="8606137" y="0"/>
            <a:ext cx="537863" cy="476816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 flipH="1">
            <a:off x="8817764" y="190604"/>
            <a:ext cx="326236" cy="286212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80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25-Jan-17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9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25-Jan-17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3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25-Jan-17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3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25-Jan-17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0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25-Jan-17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9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25-Jan-17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1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25-Jan-17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3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25-Jan-17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4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25-Jan-17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0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25-Jan-17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7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25-Jan-17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37D59-5EDB-4C39-B697-625748F703B6}" type="datetimeFigureOut">
              <a:rPr lang="en-US" smtClean="0"/>
              <a:t>25-Jan-17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free-powerpoint-templates-design.com/free-powerpoint-templates-design" TargetMode="Externa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kkrlab.nl/wiki/Arduino_KY-026_Flame_sensor_modul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203388" y="4342333"/>
            <a:ext cx="4788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Smart Home</a:t>
            </a:r>
            <a:br>
              <a:rPr kumimoji="0"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kumimoji="0"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Project</a:t>
            </a:r>
            <a:endParaRPr kumimoji="0"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2680742" y="2139702"/>
            <a:ext cx="379521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Fire Alarm</a:t>
            </a:r>
          </a:p>
          <a:p>
            <a:pPr algn="ctr"/>
            <a:r>
              <a:rPr lang="en-US" altLang="ko-KR" sz="2800" b="1" dirty="0" smtClean="0">
                <a:solidFill>
                  <a:srgbClr val="FF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KY-026</a:t>
            </a:r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0" y="4834195"/>
            <a:ext cx="9144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GitHub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link here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244" y="387218"/>
            <a:ext cx="1301512" cy="32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Sensor: KY-026</a:t>
            </a:r>
            <a:endParaRPr lang="ko-KR" alt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699542"/>
            <a:ext cx="3527425" cy="3527425"/>
          </a:xfrm>
        </p:spPr>
      </p:pic>
      <p:sp>
        <p:nvSpPr>
          <p:cNvPr id="9" name="TextBox 8"/>
          <p:cNvSpPr txBox="1"/>
          <p:nvPr/>
        </p:nvSpPr>
        <p:spPr>
          <a:xfrm>
            <a:off x="1568208" y="4226967"/>
            <a:ext cx="7575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dirty="0" smtClean="0">
                <a:solidFill>
                  <a:srgbClr val="FF0000"/>
                </a:solidFill>
                <a:latin typeface="Euphemia"/>
              </a:rPr>
              <a:t>Datasheet: </a:t>
            </a:r>
            <a:r>
              <a:rPr lang="en-US" dirty="0" smtClean="0">
                <a:solidFill>
                  <a:srgbClr val="465562"/>
                </a:solidFill>
                <a:latin typeface="Euphemia"/>
                <a:hlinkClick r:id="rId3"/>
              </a:rPr>
              <a:t>https</a:t>
            </a:r>
            <a:r>
              <a:rPr lang="en-US" dirty="0">
                <a:solidFill>
                  <a:srgbClr val="465562"/>
                </a:solidFill>
                <a:latin typeface="Euphemia"/>
                <a:hlinkClick r:id="rId3"/>
              </a:rPr>
              <a:t>://tkkrlab.nl/wiki/Arduino_KY-026_Flame_sensor_module</a:t>
            </a:r>
            <a:endParaRPr lang="en-US" dirty="0">
              <a:solidFill>
                <a:srgbClr val="465562"/>
              </a:solidFill>
              <a:latin typeface="Euphem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504" y="4226967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7554" y="415592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Fire Sensor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10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Layout of The Design</a:t>
            </a:r>
            <a:endParaRPr lang="ko-KR" alt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707654"/>
            <a:ext cx="5991226" cy="2995613"/>
          </a:xfrm>
        </p:spPr>
      </p:pic>
      <p:sp>
        <p:nvSpPr>
          <p:cNvPr id="7" name="TextBox 6"/>
          <p:cNvSpPr txBox="1"/>
          <p:nvPr/>
        </p:nvSpPr>
        <p:spPr>
          <a:xfrm>
            <a:off x="107554" y="415592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Fire Sensor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03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The </a:t>
            </a:r>
            <a:r>
              <a:rPr lang="en-US" altLang="ko-KR" dirty="0"/>
              <a:t>C</a:t>
            </a:r>
            <a:r>
              <a:rPr lang="en-US" altLang="ko-KR" dirty="0" smtClean="0"/>
              <a:t>ode:</a:t>
            </a:r>
            <a:endParaRPr lang="ko-KR" alt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438" y="1275606"/>
            <a:ext cx="7524328" cy="2882975"/>
          </a:xfrm>
        </p:spPr>
      </p:pic>
      <p:sp>
        <p:nvSpPr>
          <p:cNvPr id="7" name="TextBox 6"/>
          <p:cNvSpPr txBox="1"/>
          <p:nvPr/>
        </p:nvSpPr>
        <p:spPr>
          <a:xfrm>
            <a:off x="107554" y="415592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Fire Sensor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994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source</a:t>
            </a:r>
            <a:endParaRPr lang="ko-KR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619672" y="915566"/>
            <a:ext cx="7416824" cy="4227933"/>
          </a:xfrm>
        </p:spPr>
        <p:txBody>
          <a:bodyPr/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byte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digital_pin_fire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7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//connected to a digital pin on the fire sensor , if output is 1 then there is fire detected within the site of range for the sensor , if the output is 0 then there were no fire detected within the range of sight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byte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led_yellow_pin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10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//the pin is connected to a yellow led, it will only turn on if the wavelength detected is approaching the fire wavelength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byte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led_red_pin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11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//the pin is connected to a red led , the led will turn on when the wavelength of fire light is detected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byte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analog_pin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A0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//connected to an analog pin on the fire sensor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byte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buzzer_pin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12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//connected to an active buzzer, the buzzer will turn on if detected any wavelength related to fire, including sunlight.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byte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digital_value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//variable to store the previous digital value read from the sensor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analog_value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     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//variable to store the previous analog value read from the </a:t>
            </a:r>
            <a:r>
              <a:rPr lang="en-US" sz="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sensor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void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setup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()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pinMode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digital_pin_fire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INPUT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pinMode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led_yellow_pin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OUTPUT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pinMode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led_red_pin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  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OUTPUT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void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loop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()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digital_value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digitalRead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digital_pin_fire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analog_value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analogRead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analog_pin</a:t>
            </a:r>
            <a:r>
              <a:rPr lang="en-US" sz="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digital_value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==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HIGH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?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buzzer_pin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HIGH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buzzer_pin</a:t>
            </a:r>
            <a:r>
              <a:rPr lang="en-US" sz="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LOW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 turn on the led if the sensor digital pin is high ( the sensor detects fire )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/*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if(</a:t>
            </a:r>
            <a:r>
              <a:rPr lang="en-US" sz="6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digital_value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== HIGH)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6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buzzer_pin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 HIGH);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else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6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buzzer_pin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 LOW);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*/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analog_value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&gt;=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&amp;&amp;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analog_value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&lt;=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200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){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 the following code is to turn on the yellow and red </a:t>
            </a:r>
            <a:r>
              <a:rPr lang="en-US" sz="6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leds</a:t>
            </a:r>
            <a:r>
              <a:rPr lang="en-US" sz="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according to the analog values read from the analog pin on the sensor (according to the meaning of each value)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led_red_pin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HIGH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led_yellow_pin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LOW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else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analog_value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&gt;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300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&amp;&amp;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analog_value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&lt;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600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){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led_yellow_pin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HIGH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led_red_pin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LOW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else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analog_value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&gt;=</a:t>
            </a:r>
            <a:r>
              <a:rPr lang="en-US" sz="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700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){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led_red_pin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LOW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led_yellow_pin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LOW</a:t>
            </a: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8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ko-KR" altLang="en-US" sz="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54" y="415592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Fire Sensor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460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  <a:endParaRPr lang="ko-KR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763688" y="1059583"/>
            <a:ext cx="7139135" cy="4032448"/>
          </a:xfrm>
        </p:spPr>
        <p:txBody>
          <a:bodyPr/>
          <a:lstStyle/>
          <a:p>
            <a:pPr marL="246888" lvl="0" indent="-246888" latinLnBrk="0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</a:pPr>
            <a:r>
              <a:rPr lang="en-US" sz="2000" dirty="0">
                <a:solidFill>
                  <a:srgbClr val="465562"/>
                </a:solidFill>
                <a:latin typeface="Euphemia"/>
              </a:rPr>
              <a:t>When the sensor detects fire, a +5V (logic 1) will be outputted on the pin D0 of the sensor.</a:t>
            </a:r>
          </a:p>
          <a:p>
            <a:pPr marL="246888" lvl="0" indent="-246888" latinLnBrk="0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</a:pPr>
            <a:r>
              <a:rPr lang="en-US" sz="2000" dirty="0">
                <a:solidFill>
                  <a:srgbClr val="465562"/>
                </a:solidFill>
                <a:latin typeface="Euphemia"/>
              </a:rPr>
              <a:t>When the microcontroller reads logic 1 on the chosen pin in the setup code, it will activate a buzzer to indicate that there is fire.</a:t>
            </a:r>
          </a:p>
          <a:p>
            <a:pPr marL="246888" lvl="0" indent="-246888" latinLnBrk="0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</a:pPr>
            <a:r>
              <a:rPr lang="en-US" sz="2000" dirty="0">
                <a:solidFill>
                  <a:srgbClr val="465562"/>
                </a:solidFill>
                <a:latin typeface="Euphemia"/>
              </a:rPr>
              <a:t>The analog pin on the sensor indicates the intensity of the fire it reads in this case, it will give certain output voltage for a certain distance where it detected the fire.</a:t>
            </a:r>
          </a:p>
          <a:p>
            <a:pPr marL="246888" lvl="0" indent="-246888" latinLnBrk="0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</a:pPr>
            <a:r>
              <a:rPr lang="en-US" sz="2000" dirty="0">
                <a:solidFill>
                  <a:schemeClr val="tx1"/>
                </a:solidFill>
                <a:latin typeface="Euphemia"/>
              </a:rPr>
              <a:t>Note</a:t>
            </a:r>
            <a:r>
              <a:rPr lang="en-US" sz="2000" dirty="0">
                <a:solidFill>
                  <a:srgbClr val="465562"/>
                </a:solidFill>
                <a:latin typeface="Euphemia"/>
              </a:rPr>
              <a:t> that this is just a preliminary usage of the sensor, the sensor’s readings will be utilized more as we progress in the Project.</a:t>
            </a:r>
          </a:p>
          <a:p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54" y="415592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Fire Sensor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514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2335</TotalTime>
  <Words>516</Words>
  <Application>Microsoft Office PowerPoint</Application>
  <PresentationFormat>On-screen Show (16:9)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맑은 고딕</vt:lpstr>
      <vt:lpstr>Arial</vt:lpstr>
      <vt:lpstr>Calibri</vt:lpstr>
      <vt:lpstr>Courier New</vt:lpstr>
      <vt:lpstr>Euphemia</vt:lpstr>
      <vt:lpstr>Times New Roman</vt:lpstr>
      <vt:lpstr>Office Theme</vt:lpstr>
      <vt:lpstr>Custom Design</vt:lpstr>
      <vt:lpstr>PowerPoint Presentation</vt:lpstr>
      <vt:lpstr>The Sensor: KY-026</vt:lpstr>
      <vt:lpstr>The Layout of The Design</vt:lpstr>
      <vt:lpstr>The Code:</vt:lpstr>
      <vt:lpstr>source</vt:lpstr>
      <vt:lpstr>How It Works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anas khedr</cp:lastModifiedBy>
  <cp:revision>38</cp:revision>
  <dcterms:created xsi:type="dcterms:W3CDTF">2014-04-01T16:27:38Z</dcterms:created>
  <dcterms:modified xsi:type="dcterms:W3CDTF">2017-01-25T16:58:21Z</dcterms:modified>
</cp:coreProperties>
</file>